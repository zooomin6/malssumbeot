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4C9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신앙 동반자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1488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BE8C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말씀벗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868680" y="361188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현생에 치여 하나님을 잊고 사는 크리스찬에게,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순간 성경 말씀으로 답해주는 AI 신앙 동반자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868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제품기획서 ·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052560" y="246888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dirty="0">
                <a:solidFill>
                  <a:srgbClr val="273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30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현생에 치여 말씀과 단절된 크리스찬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신앙은 있지만 일상에서 하나님을 만날 접점이 없습니다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F2F4F8"/>
          </a:solidFill>
          <a:ln/>
          <a:effectLst>
            <a:outerShdw sx="100000" sy="100000" kx="0" ky="0" algn="bl" rotWithShape="0" blurRad="114300" dist="38100" dir="5400000">
              <a:srgbClr val="9AA3B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21408"/>
            <a:ext cx="457200" cy="457200"/>
          </a:xfrm>
          <a:prstGeom prst="ellipse">
            <a:avLst/>
          </a:prstGeom>
          <a:solidFill>
            <a:srgbClr val="BE8C3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B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말씀과 단절된 일상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51560" y="274320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신앙은 있지만, 현생에 치여 말씀을 잊고 삽니다.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F2F4F8"/>
          </a:solidFill>
          <a:ln/>
          <a:effectLst>
            <a:outerShdw sx="100000" sy="100000" kx="0" ky="0" algn="bl" rotWithShape="0" blurRad="114300" dist="38100" dir="5400000">
              <a:srgbClr val="9AA3B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75120" y="2121408"/>
            <a:ext cx="457200" cy="457200"/>
          </a:xfrm>
          <a:prstGeom prst="ellipse">
            <a:avLst/>
          </a:prstGeom>
          <a:solidFill>
            <a:srgbClr val="BE8C36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0" y="210312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B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읽히는 일방적 푸시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720840" y="274320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말씀 알림은 오픈율이 낮고 맥락이 없습니다.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F2F4F8"/>
          </a:solidFill>
          <a:ln/>
          <a:effectLst>
            <a:outerShdw sx="100000" sy="100000" kx="0" ky="0" algn="bl" rotWithShape="0" blurRad="114300" dist="38100" dir="5400000">
              <a:srgbClr val="9AA3B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4407408"/>
            <a:ext cx="457200" cy="457200"/>
          </a:xfrm>
          <a:prstGeom prst="ellipse">
            <a:avLst/>
          </a:prstGeom>
          <a:solidFill>
            <a:srgbClr val="BE8C36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438912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B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물어볼 곳 없는 질문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051560" y="502920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목사님껜 부담, 검색하면 이단·논쟁 글이 섞입니다.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09360" y="402336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F2F4F8"/>
          </a:solidFill>
          <a:ln/>
          <a:effectLst>
            <a:outerShdw sx="100000" sy="100000" kx="0" ky="0" algn="bl" rotWithShape="0" blurRad="114300" dist="38100" dir="5400000">
              <a:srgbClr val="9AA3B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75120" y="4407408"/>
            <a:ext cx="457200" cy="457200"/>
          </a:xfrm>
          <a:prstGeom prst="ellipse">
            <a:avLst/>
          </a:prstGeom>
          <a:solidFill>
            <a:srgbClr val="BE8C36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0" y="438912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B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쌓이는 죄책감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720840" y="502920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교회를 못 가는 동안 정죄감만 커집니다.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말씀벗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대화로 만나는, 성경 기반 신앙 동반자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순간 내 상황을 말하면, 그에 맞는 말씀으로 답합니다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93776" y="1920240"/>
            <a:ext cx="342900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B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42516" y="2377440"/>
            <a:ext cx="731520" cy="731520"/>
          </a:xfrm>
          <a:prstGeom prst="ellipse">
            <a:avLst/>
          </a:prstGeom>
          <a:solidFill>
            <a:srgbClr val="1C2B46"/>
          </a:solidFill>
          <a:ln/>
        </p:spPr>
      </p:sp>
      <p:sp>
        <p:nvSpPr>
          <p:cNvPr id="6" name="Text 4"/>
          <p:cNvSpPr/>
          <p:nvPr/>
        </p:nvSpPr>
        <p:spPr>
          <a:xfrm>
            <a:off x="1842516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4C9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68096" y="33375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E8C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대화형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3816" y="39319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푸시가 아니라, 내 상황을 말하면</a:t>
            </a:r>
            <a:endParaRPr lang="en-US" sz="14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그에 맞는 말씀으로 응답합니다.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79976" y="1920240"/>
            <a:ext cx="342900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B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C2B46"/>
          </a:solidFill>
          <a:ln/>
        </p:spPr>
      </p:sp>
      <p:sp>
        <p:nvSpPr>
          <p:cNvPr id="11" name="Text 9"/>
          <p:cNvSpPr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4C9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54296" y="33375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E8C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성경 기반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00016" y="39319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답변은 성경 본문을 근거로.</a:t>
            </a:r>
            <a:endParaRPr lang="en-US" sz="14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사견과 환각을 막습니다.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266176" y="1920240"/>
            <a:ext cx="342900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9AA3B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14916" y="2377440"/>
            <a:ext cx="731520" cy="731520"/>
          </a:xfrm>
          <a:prstGeom prst="ellipse">
            <a:avLst/>
          </a:prstGeom>
          <a:solidFill>
            <a:srgbClr val="1C2B46"/>
          </a:solidFill>
          <a:ln/>
        </p:spPr>
      </p:sp>
      <p:sp>
        <p:nvSpPr>
          <p:cNvPr id="16" name="Text 14"/>
          <p:cNvSpPr/>
          <p:nvPr/>
        </p:nvSpPr>
        <p:spPr>
          <a:xfrm>
            <a:off x="9614916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4C9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540496" y="33375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E8C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동반자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86216" y="39319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목회자·교회를 대체하지 않고</a:t>
            </a:r>
            <a:endParaRPr lang="en-US" sz="14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연결하는 '다리'가 됩니다.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0080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말씀벗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무슨 말을 하든, 알아서 갈래를 탑니다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사용자는 모드를 고를 필요가 없습니다 — 6갈래 자동 분류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08792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697687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이렇게 말하면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말씀벗이 하는 일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C2B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“요즘 너무 힘들어”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5B65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공감 → 상황에 맞는 성경 구절 → 짧은 적용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C2B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“면접 전인데 기도해줘”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5B65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상황을 담은 맞춤 기도문 작성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C2B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“방언이 뭐야?”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5B65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성경 근거로 답하되 교단은 중립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C2B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“오늘 날씨 좋다”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5B65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친구처럼 받아줌 (말씀 강요 안 함)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A3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“죽고 싶어”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A3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신앙 답변 멈추고 109 즉시 연결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C2B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“코드 짜줘”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5B65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정중히 거절 + 할 수 있는 것 안내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E8C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위기(“죽고 싶어”)는 다른 모든 분기에 우선합니다.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말씀벗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ChatGPT엔 없는, 두 가지 안전장치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AI와 범용성으로 경쟁하지 않습니다 — 신뢰로 경쟁합니다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2743200"/>
          </a:xfrm>
          <a:prstGeom prst="roundRect">
            <a:avLst>
              <a:gd name="adj" fmla="val 3333"/>
            </a:avLst>
          </a:prstGeom>
          <a:solidFill>
            <a:srgbClr val="F2F4F8"/>
          </a:solidFill>
          <a:ln/>
          <a:effectLst>
            <a:outerShdw sx="100000" sy="100000" kx="0" ky="0" algn="bl" rotWithShape="0" blurRad="114300" dist="38100" dir="5400000">
              <a:srgbClr val="9AA3B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1488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E8C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51560" y="274320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B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성경 구절을 지어내지 않습니다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51560" y="338328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ChatGPT는 그럴듯한 구절을 만들어냅니다. 말씀벗은 DB에 없는 구절을 거부하고, 모든 인용을 검증된 원문으로만 제시합니다.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257800" cy="2743200"/>
          </a:xfrm>
          <a:prstGeom prst="roundRect">
            <a:avLst>
              <a:gd name="adj" fmla="val 3333"/>
            </a:avLst>
          </a:prstGeom>
          <a:solidFill>
            <a:srgbClr val="1C2B46"/>
          </a:solidFill>
          <a:ln/>
          <a:effectLst>
            <a:outerShdw sx="100000" sy="100000" kx="0" ky="0" algn="bl" rotWithShape="0" blurRad="114300" dist="38100" dir="5400000">
              <a:srgbClr val="9AA3B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0" y="21488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E8C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720840" y="274320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위기는 그 무엇보다 우선합니다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720840" y="338328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C9D4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자살·자해 신호를 감지하면 신앙 답변을 멈추고 전문기관(109)으로 즉시 연결합니다. 안전을 신학·기능보다 위에 둡니다.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93776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E8C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 한국 개신교 신학 가드레일 · 교단 중립 · 정죄 없는 태도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말씀벗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수요, 확장 가능한 시장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핵심 타겟이 분명하고, 글로벌은 성공 사례가 증명합니다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93776" y="192024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F2F4F8"/>
          </a:solidFill>
          <a:ln/>
          <a:effectLst>
            <a:outerShdw sx="100000" sy="100000" kx="0" ky="0" algn="bl" rotWithShape="0" blurRad="114300" dist="38100" dir="5400000">
              <a:srgbClr val="9AA3B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23774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E8C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800~900만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68096" y="34747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개신교 인구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3816" y="39776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타겟인 2040 '가나안 성도' 비중 증가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79976" y="192024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F2F4F8"/>
          </a:solidFill>
          <a:ln/>
          <a:effectLst>
            <a:outerShdw sx="100000" sy="100000" kx="0" ky="0" algn="bl" rotWithShape="0" blurRad="114300" dist="38100" dir="5400000">
              <a:srgbClr val="9AA3B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62856" y="23774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E8C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5억+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54296" y="34747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YouVersion 글로벌 다운로드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00016" y="39776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기독교 앱 시장의 규모를 증명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66176" y="192024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F2F4F8"/>
          </a:solidFill>
          <a:ln/>
          <a:effectLst>
            <a:outerShdw sx="100000" sy="100000" kx="0" ky="0" algn="bl" rotWithShape="0" blurRad="114300" dist="38100" dir="5400000">
              <a:srgbClr val="9AA3B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49056" y="23774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E8C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구독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540496" y="34747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Hallow(미국·가톨릭)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86216" y="39776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구독 모델 성공을 입증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말씀벗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단계적 수익화 — 검증 후 구독, 그리고 B2B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무료로 검증하고, 구독으로 확장하고, 교회 라이선스로 키웁니다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93776" y="178308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F2F4F8"/>
          </a:solidFill>
          <a:ln/>
          <a:effectLst>
            <a:outerShdw sx="100000" sy="100000" kx="0" ky="0" algn="bl" rotWithShape="0" blurRad="114300" dist="38100" dir="5400000">
              <a:srgbClr val="9AA3B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13816" y="21031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3816" y="256032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E8C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13816" y="33832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단계 · 일 5회 제한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경량 모델로 비용 통제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79976" y="178308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1C2B46"/>
          </a:solidFill>
          <a:ln/>
          <a:effectLst>
            <a:outerShdw sx="100000" sy="100000" kx="0" ky="0" algn="bl" rotWithShape="0" blurRad="114300" dist="38100" dir="5400000">
              <a:srgbClr val="9AA3B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0016" y="21031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C9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0016" y="256032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E8C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3,900원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700016" y="33832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C9D4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무제한 대화 + 기도제목 관리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C9D4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감사일기 (Freemium 구독)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66176" y="178308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F2F4F8"/>
          </a:solidFill>
          <a:ln/>
          <a:effectLst>
            <a:outerShdw sx="100000" sy="100000" kx="0" ky="0" algn="bl" rotWithShape="0" blurRad="114300" dist="38100" dir="5400000">
              <a:srgbClr val="9AA3B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86216" y="21031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86216" y="256032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E8C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교회 월 5~20만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586216" y="33832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 라이선스 · 공식 챗봇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새신자 케어 자동화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93776" y="4846320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F6EFDF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" y="4846320"/>
            <a:ext cx="11201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사용자당 API 비용 월 300~800원</a:t>
            </a:r>
            <a:pPr algn="ctr" indent="0" marL="0">
              <a:buNone/>
            </a:pPr>
            <a:r>
              <a:rPr lang="en-US" sz="1600" b="1" dirty="0">
                <a:solidFill>
                  <a:srgbClr val="BE8C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&lt;   </a:t>
            </a:r>
            <a:pPr algn="ctr" indent="0" marL="0">
              <a:buNone/>
            </a:pPr>
            <a:r>
              <a:rPr lang="en-US" sz="1600" b="1" dirty="0">
                <a:solidFill>
                  <a:srgbClr val="1C2B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 3,900원</a:t>
            </a:r>
            <a:pPr algn="ctr" indent="0" marL="0">
              <a:buNone/>
            </a:pPr>
            <a:r>
              <a:rPr lang="en-US" sz="1600" b="1" dirty="0">
                <a:solidFill>
                  <a:srgbClr val="BE8C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=   마진 확보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말씀벗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어디까지 왔나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두뇌는 완성 — 베타를 향해 가고 있습니다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577340" y="2651760"/>
            <a:ext cx="9034272" cy="0"/>
          </a:xfrm>
          <a:prstGeom prst="line">
            <a:avLst/>
          </a:prstGeom>
          <a:noFill/>
          <a:ln w="25400">
            <a:solidFill>
              <a:srgbClr val="DD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1580" y="2286000"/>
            <a:ext cx="731520" cy="731520"/>
          </a:xfrm>
          <a:prstGeom prst="ellipse">
            <a:avLst/>
          </a:prstGeom>
          <a:solidFill>
            <a:srgbClr val="BE8C36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1158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32004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B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구축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36118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성경 DB · 서버 · 파이프라인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37260" y="1783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8C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0148" y="2286000"/>
            <a:ext cx="731520" cy="7315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BE8C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014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E8C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61488" y="32004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B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· QA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61488" y="36118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5종 프롬프트 · 위기 · 검증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195828" y="1783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8C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중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28716" y="2286000"/>
            <a:ext cx="731520" cy="731520"/>
          </a:xfrm>
          <a:prstGeom prst="ellipse">
            <a:avLst/>
          </a:prstGeom>
          <a:solidFill>
            <a:srgbClr val="F2F4F8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28716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0056" y="32004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B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클로즈드 베타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0056" y="36118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교회 청년부 30명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87284" y="2286000"/>
            <a:ext cx="731520" cy="731520"/>
          </a:xfrm>
          <a:prstGeom prst="ellipse">
            <a:avLst/>
          </a:prstGeom>
          <a:solidFill>
            <a:srgbClr val="F2F4F8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8728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78624" y="32004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B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고도화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78624" y="36118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 · 리텐션 측정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245852" y="2286000"/>
            <a:ext cx="731520" cy="731520"/>
          </a:xfrm>
          <a:prstGeom prst="ellipse">
            <a:avLst/>
          </a:prstGeom>
          <a:solidFill>
            <a:srgbClr val="F2F4F8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585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537192" y="32004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B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· 구독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37192" y="36118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RN 앱 · 구독 도입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— 백엔드 핵심 파이프라인 구현 완료, 단위 테스트 통과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말씀벗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011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4C9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신앙을 대체하지 않습니다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2296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교회로 연결하는 다리가 됩니다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68680" y="3886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4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정죄 없이, 환각 없이, 안전하게 — 필요한 순간 말씀으로 동행하는 친구.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5029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E8C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말씀벗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052560" y="237744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dirty="0">
                <a:solidFill>
                  <a:srgbClr val="273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30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말씀벗 피치덱</dc:title>
  <dc:subject>PptxGenJS Presentation</dc:subject>
  <dc:creator>민규</dc:creator>
  <cp:lastModifiedBy>민규</cp:lastModifiedBy>
  <cp:revision>1</cp:revision>
  <dcterms:created xsi:type="dcterms:W3CDTF">2026-06-26T10:50:14Z</dcterms:created>
  <dcterms:modified xsi:type="dcterms:W3CDTF">2026-06-26T10:50:14Z</dcterms:modified>
</cp:coreProperties>
</file>